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Peru Food Consumption Data Analysis: Processing Workflow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ENAHO Survey Data Preparation to Verification</a:t>
            </a:r>
            <a:br/>
            <a:br/>
            <a:r>
              <a:rPr/>
              <a:t>Research Team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2025-11-10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Overview of the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Objective</a:t>
            </a:r>
            <a:r>
              <a:rPr/>
              <a:t> - Analyze food consumption data from Peru’s National Household Survey (ENAHO) - Evaluate the impact of nutritional intervention programs (CRECER, JUNTOS)</a:t>
            </a:r>
          </a:p>
          <a:p>
            <a:pPr lvl="0" indent="0" marL="0">
              <a:buNone/>
            </a:pPr>
            <a:r>
              <a:rPr b="1"/>
              <a:t>Data Source</a:t>
            </a:r>
            <a:r>
              <a:rPr/>
              <a:t> - Annual data: 2007–2016 (10-year period) - Survey subjects: Household food group consumption quantities - Complex sample survey design reflected in analysis</a:t>
            </a:r>
          </a:p>
          <a:p>
            <a:pPr lvl="0" indent="0" marL="0">
              <a:buNone/>
            </a:pPr>
            <a:r>
              <a:rPr b="1"/>
              <a:t>Major Processing Stages</a:t>
            </a:r>
            <a:r>
              <a:rPr/>
              <a:t> 1. Data preparation and processing 2. Verification and quality management 3. Basic statistical analysis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Part 1 – Data Preparation (file1.txt)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Step 1: Calculate Household Composition (Function </a:t>
            </a:r>
            <a:r>
              <a:rPr b="1">
                <a:latin typeface="Courier"/>
              </a:rPr>
              <a:t>get_familysize_ame</a:t>
            </a:r>
            <a:r>
              <a:rPr b="1"/>
              <a:t>)</a:t>
            </a:r>
            <a:r>
              <a:rPr/>
              <a:t> - Age calculation: Computed from birth month/year to current month/year - Adult Male Equivalent (AME): Apply coefficients by sex and age group - Output: Household family size and AME-standardized values</a:t>
            </a:r>
          </a:p>
          <a:p>
            <a:pPr lvl="0" indent="0" marL="0">
              <a:buNone/>
            </a:pPr>
            <a:r>
              <a:rPr b="1"/>
              <a:t>Step 2: Aggregate Food Group Consumption (Function </a:t>
            </a:r>
            <a:r>
              <a:rPr b="1">
                <a:latin typeface="Courier"/>
              </a:rPr>
              <a:t>get_food_consumption_family</a:t>
            </a:r>
            <a:r>
              <a:rPr b="1"/>
              <a:t>)</a:t>
            </a:r>
            <a:r>
              <a:rPr/>
              <a:t> - Load consumption units and frequency from survey records - Apply gram conversion coefficients - Aggregate into 8 food groups based on food classification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Part 1 – Data Preparation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Step 3: Convert to Per Capita Consumption (Function </a:t>
            </a:r>
            <a:r>
              <a:rPr b="1">
                <a:latin typeface="Courier"/>
              </a:rPr>
              <a:t>get_food_consumption_capita</a:t>
            </a:r>
            <a:r>
              <a:rPr b="1"/>
              <a:t>)</a:t>
            </a:r>
            <a:r>
              <a:rPr/>
              <a:t> - Divide household-level consumption by AME - Calculate per capita per day food group consumption</a:t>
            </a:r>
          </a:p>
          <a:p>
            <a:pPr lvl="0" indent="0" marL="0">
              <a:buNone/>
            </a:pPr>
            <a:r>
              <a:rPr b="1"/>
              <a:t>Step 4: Attach Geographic and Income Information</a:t>
            </a:r>
            <a:r>
              <a:rPr/>
              <a:t> - Geographic classification: Coast (Costa) / Highland (Sierra) / Amazon (Selva) - Department codes, urban/rural classification - Intervention status: Classified by program start year (2009, 2011)</a:t>
            </a:r>
          </a:p>
          <a:p>
            <a:pPr lvl="0" indent="0" marL="0">
              <a:buNone/>
            </a:pPr>
            <a:r>
              <a:rPr b="1"/>
              <a:t>Step 5: Log Transformation and Score Calculation</a:t>
            </a:r>
            <a:r>
              <a:rPr/>
              <a:t> - log1p transformation: Handle zero values - Recommended intake score: Adequate (1) / Excess (2) / Insufficient (3)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Part 1 – Overall Processing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Annual Loop (2007-2016)
│
├─ Load mod1 (basic info), mod4 (household composition)
├─ Load mod5 (JUNTOS info), mod7 (food consumption)
│
├─ Calculate family size and AME
│  └─ Apply adult male equivalent coefficients
│
├─ Aggregate food consumption
│  └─ Household-level → Per capita consumption
│
├─ Integrate geographic and economic information
│  ├─ Assign region, department, intervention status
│  └─ Integrate income and JUNTOS participation
│
└─ Final processing
   ├─ Log transformation
   ├─ Score calculation
   └─ Save as annual integrated dataset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Part 2 – Data Verification (file2.txt)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Process 1: Set up svydesign</a:t>
            </a:r>
            <a:r>
              <a:rPr/>
              <a:t> - Reflect complex sample design: PSU (conglomerate), stratum (ESTRATO), weight (FACTOR07) - Calculate income quintiles: Group using weighted quantiles</a:t>
            </a:r>
          </a:p>
          <a:p>
            <a:pPr lvl="0" indent="0" marL="0">
              <a:buNone/>
            </a:pPr>
            <a:r>
              <a:rPr b="1"/>
              <a:t>Process 2: Outlier Detection (Function </a:t>
            </a:r>
            <a:r>
              <a:rPr b="1">
                <a:latin typeface="Courier"/>
              </a:rPr>
              <a:t>detect_outliers_weighted</a:t>
            </a:r>
            <a:r>
              <a:rPr b="1"/>
              <a:t> × 2 iterations)</a:t>
            </a:r>
            <a:r>
              <a:rPr/>
              <a:t> - Weighted IQR method for outlier detection - Flexible group-wise outlier identification (region × income or urban/rural × income) - Record detection results: Count and proportion of outliers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Part 2 – Data Verification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Process 3: Recalculate Scores</a:t>
            </a:r>
            <a:r>
              <a:rPr/>
              <a:t> - Recalculate food scores on dataset after outlier removal - Save two patterns of outlier-treated results: - Pattern 1: Region × Income Quintile - Pattern 2: Urban/Rural Area × Income Quintile</a:t>
            </a:r>
          </a:p>
          <a:p>
            <a:pPr lvl="0" indent="0" marL="0">
              <a:buNone/>
            </a:pPr>
            <a:r>
              <a:rPr b="1"/>
              <a:t>Process 4: Confirm Basic Statistics</a:t>
            </a:r>
            <a:r>
              <a:rPr/>
              <a:t> - Use gtsummary/gt packages for descriptive statistics - Compare by group (treatment group/control group, treatment year, etc.) - Calculate mean and standard error for each cell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Part 2 – Quality Assurance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Data Verification Pipeline
│
├─ Create svydesign
│  └─ Reflect complex sample design
│
├─ Outlier Detection and Removal (1st iteration)
│  ├─ Group by region × income quintile
│  ├─ Identify outliers using weighted IQR
│  └─ Recalculate scores
│
├─ Outlier Detection and Removal (2nd iteration)
│  ├─ Group by urban/rural × income quintile
│  ├─ Validate with finer geographic stratification
│  └─ Recalculate scores
│
└─ Confirm Basic Statistics
   ├─ Generate descriptive statistics tables
   ├─ Compare by groups
   └─ Save cleaned dataset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8: Key Functions and Processing Content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1828800"/>
                <a:gridCol w="3429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 Process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get_familysize_ame()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file1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Family size using adult male equivalent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get_food_consumption_family()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file1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Aggregate food group consumption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get_food_consumption_capita()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file1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Convert to per capita consumption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add_food_score()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file1/2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Calculate recommendation-based scores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detect_outliers_weighted()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file2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Weighted outlier detection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set_na_outlier()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file2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Replace outliers with NA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9: Output Data and Storage Format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Major Files After Processing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625600"/>
                <a:gridCol w="1485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Format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df_foodgrp_consumption_all_org.rds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Annual integrated processed 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df_foodgrp_consumption_clean2.rds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Final cleaned dataset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food_consumption_by_area_income.rds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statistics by area × income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enaho_files_list.rds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File path management for each year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RDS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Available Variables for Analysis</a:t>
            </a:r>
            <a:r>
              <a:rPr/>
              <a:t> - Food consumption: Raw data + log1p-transformed version - Scores: 3-level classification + adequacy indicator - Grouping variables: Region, department, income quintile, treatment group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10: Next Steps and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Preparation for Analysis</a:t>
            </a:r>
            <a:r>
              <a:rPr/>
              <a:t> - Use cleaned data (</a:t>
            </a:r>
            <a:r>
              <a:rPr>
                <a:latin typeface="Courier"/>
              </a:rPr>
              <a:t>clean2</a:t>
            </a:r>
            <a:r>
              <a:rPr/>
              <a:t>) - Apply statistical tests reflecting complex sample design (survey package) - Utilize svydesign structure for between-group mean comparisons</a:t>
            </a:r>
          </a:p>
          <a:p>
            <a:pPr lvl="0" indent="0" marL="0">
              <a:buNone/>
            </a:pPr>
            <a:r>
              <a:rPr b="1"/>
              <a:t>Primary Analysis Methods</a:t>
            </a:r>
            <a:r>
              <a:rPr/>
              <a:t> - Descriptive statistics: Stratified aggregation using svyby - Causal inference: Difference-in-Differences (pre/post treatment × treatment/control) - Regression analysis: Weighted logistic regression accounting for complex sample design</a:t>
            </a:r>
          </a:p>
          <a:p>
            <a:pPr lvl="0" indent="0" marL="0">
              <a:buNone/>
            </a:pPr>
            <a:r>
              <a:rPr b="1"/>
              <a:t>Ensure Data Quality</a:t>
            </a:r>
            <a:r>
              <a:rPr/>
              <a:t> - Verify appropriateness of outlier removal - Confirm sample size by group - Understand missing data patterns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Peru Food Consumption Data Analysis: Processing Workflow</dc:title>
  <dc:creator>Research Team</dc:creator>
  <cp:keywords/>
  <dcterms:created xsi:type="dcterms:W3CDTF">2025-11-09T22:30:14Z</dcterms:created>
  <dcterms:modified xsi:type="dcterms:W3CDTF">2025-11-09T22:30:14Z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2025-11-10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From ENAHO Survey Data Preparation to Verification</vt:lpwstr>
  </property>
  <property fmtid="{D5CDD505-2E9C-101B-9397-08002B2CF9AE}" pid="11" name="toc-title">
    <vt:lpwstr>Table of contents</vt:lpwstr>
  </property>
</Properties>
</file>